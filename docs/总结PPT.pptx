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61bd1fb414555" /><Relationship Type="http://schemas.openxmlformats.org/officeDocument/2006/relationships/extended-properties" Target="/docProps/app.xml" Id="Rc66eaad5ae9d4452" /><Relationship Type="http://schemas.openxmlformats.org/officeDocument/2006/relationships/officeDocument" Target="/ppt/presentation.xml" Id="Rb6a8cddb2bf24c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63e61a17b2431c"/>
  </p:sldMasterIdLst>
  <p:notesMasterIdLst>
    <p:notesMasterId xmlns:r="http://schemas.openxmlformats.org/officeDocument/2006/relationships" r:id="R4104325f28b24c75"/>
  </p:notesMasterIdLst>
  <p:sldIdLst>
    <p:sldId xmlns:r="http://schemas.openxmlformats.org/officeDocument/2006/relationships" id="256" r:id="R69c273e37e5b4d1c"/>
    <p:sldId xmlns:r="http://schemas.openxmlformats.org/officeDocument/2006/relationships" id="257" r:id="Recbdda2d451640f9"/>
    <p:sldId xmlns:r="http://schemas.openxmlformats.org/officeDocument/2006/relationships" id="258" r:id="Ra45123397c6b4ee3"/>
    <p:sldId xmlns:r="http://schemas.openxmlformats.org/officeDocument/2006/relationships" id="259" r:id="R81d4f0793a784285"/>
    <p:sldId xmlns:r="http://schemas.openxmlformats.org/officeDocument/2006/relationships" id="260" r:id="R1c309573aaf7462d"/>
    <p:sldId xmlns:r="http://schemas.openxmlformats.org/officeDocument/2006/relationships" id="261" r:id="R63cf2a4451de4283"/>
    <p:sldId xmlns:r="http://schemas.openxmlformats.org/officeDocument/2006/relationships" id="262" r:id="R8de9d7eb87d4408f"/>
    <p:sldId xmlns:r="http://schemas.openxmlformats.org/officeDocument/2006/relationships" id="263" r:id="Rfcd9582040434a5b"/>
    <p:sldId xmlns:r="http://schemas.openxmlformats.org/officeDocument/2006/relationships" id="264" r:id="R516413e0fdb6476a"/>
    <p:sldId xmlns:r="http://schemas.openxmlformats.org/officeDocument/2006/relationships" id="265" r:id="R8caba4fa98084719"/>
    <p:sldId xmlns:r="http://schemas.openxmlformats.org/officeDocument/2006/relationships" id="266" r:id="R5273e990b4874f46"/>
    <p:sldId xmlns:r="http://schemas.openxmlformats.org/officeDocument/2006/relationships" id="267" r:id="R86322b72856b445e"/>
    <p:sldId xmlns:r="http://schemas.openxmlformats.org/officeDocument/2006/relationships" id="268" r:id="R4701cdebd63243d8"/>
    <p:sldId xmlns:r="http://schemas.openxmlformats.org/officeDocument/2006/relationships" id="269" r:id="R959456d0f46e48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ff4efba9da483f" /><Relationship Type="http://schemas.openxmlformats.org/officeDocument/2006/relationships/slideMaster" Target="/ppt/slideMasters/slideMaster1.xml" Id="R0663e61a17b2431c" /><Relationship Type="http://schemas.openxmlformats.org/officeDocument/2006/relationships/notesMaster" Target="/ppt/notesMasters/notesMaster1.xml" Id="R4104325f28b24c75" /><Relationship Type="http://schemas.openxmlformats.org/officeDocument/2006/relationships/presProps" Target="/ppt/presProps.xml" Id="R582b21365c124c89" /><Relationship Type="http://schemas.openxmlformats.org/officeDocument/2006/relationships/tableStyles" Target="/ppt/tableStyles.xml" Id="Rf78d0ac55ccc4752" /><Relationship Type="http://schemas.openxmlformats.org/officeDocument/2006/relationships/slide" Target="/ppt/slides/slide1.xml" Id="R69c273e37e5b4d1c" /><Relationship Type="http://schemas.openxmlformats.org/officeDocument/2006/relationships/slide" Target="/ppt/slides/slide2.xml" Id="Recbdda2d451640f9" /><Relationship Type="http://schemas.openxmlformats.org/officeDocument/2006/relationships/slide" Target="/ppt/slides/slide3.xml" Id="Ra45123397c6b4ee3" /><Relationship Type="http://schemas.openxmlformats.org/officeDocument/2006/relationships/slide" Target="/ppt/slides/slide4.xml" Id="R81d4f0793a784285" /><Relationship Type="http://schemas.openxmlformats.org/officeDocument/2006/relationships/slide" Target="/ppt/slides/slide5.xml" Id="R1c309573aaf7462d" /><Relationship Type="http://schemas.openxmlformats.org/officeDocument/2006/relationships/slide" Target="/ppt/slides/slide6.xml" Id="R63cf2a4451de4283" /><Relationship Type="http://schemas.openxmlformats.org/officeDocument/2006/relationships/slide" Target="/ppt/slides/slide7.xml" Id="R8de9d7eb87d4408f" /><Relationship Type="http://schemas.openxmlformats.org/officeDocument/2006/relationships/slide" Target="/ppt/slides/slide8.xml" Id="Rfcd9582040434a5b" /><Relationship Type="http://schemas.openxmlformats.org/officeDocument/2006/relationships/slide" Target="/ppt/slides/slide9.xml" Id="R516413e0fdb6476a" /><Relationship Type="http://schemas.openxmlformats.org/officeDocument/2006/relationships/slide" Target="/ppt/slides/slide10.xml" Id="R8caba4fa98084719" /><Relationship Type="http://schemas.openxmlformats.org/officeDocument/2006/relationships/slide" Target="/ppt/slides/slide11.xml" Id="R5273e990b4874f46" /><Relationship Type="http://schemas.openxmlformats.org/officeDocument/2006/relationships/slide" Target="/ppt/slides/slide12.xml" Id="R86322b72856b445e" /><Relationship Type="http://schemas.openxmlformats.org/officeDocument/2006/relationships/slide" Target="/ppt/slides/slide13.xml" Id="R4701cdebd63243d8" /><Relationship Type="http://schemas.openxmlformats.org/officeDocument/2006/relationships/slide" Target="/ppt/slides/slide14.xml" Id="R959456d0f46e48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c2eaa25943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cfae3f00e94d83" /><Relationship Type="http://schemas.openxmlformats.org/officeDocument/2006/relationships/notesMaster" Target="/ppt/notesMasters/notesMaster1.xml" Id="R914acd281c514a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68317dd054211" /><Relationship Type="http://schemas.openxmlformats.org/officeDocument/2006/relationships/notesMaster" Target="/ppt/notesMasters/notesMaster1.xml" Id="R4aa89870ee4c4f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96904a4c6a4f3f" /><Relationship Type="http://schemas.openxmlformats.org/officeDocument/2006/relationships/notesMaster" Target="/ppt/notesMasters/notesMaster1.xml" Id="R810a4a3eb7144c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69762ebb40405a" /><Relationship Type="http://schemas.openxmlformats.org/officeDocument/2006/relationships/notesMaster" Target="/ppt/notesMasters/notesMaster1.xml" Id="R3d92ef76f45648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58540f6a8d4d52" /><Relationship Type="http://schemas.openxmlformats.org/officeDocument/2006/relationships/notesMaster" Target="/ppt/notesMasters/notesMaster1.xml" Id="R581f8ee818b549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a66716a92d4fbd" /><Relationship Type="http://schemas.openxmlformats.org/officeDocument/2006/relationships/notesMaster" Target="/ppt/notesMasters/notesMaster1.xml" Id="R402fc148c1344a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bb3fe7962b4968" /><Relationship Type="http://schemas.openxmlformats.org/officeDocument/2006/relationships/notesMaster" Target="/ppt/notesMasters/notesMaster1.xml" Id="R5c24465653e7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b7845a79c9401f" /><Relationship Type="http://schemas.openxmlformats.org/officeDocument/2006/relationships/notesMaster" Target="/ppt/notesMasters/notesMaster1.xml" Id="R21c7f69ce97d48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985576a78049c4" /><Relationship Type="http://schemas.openxmlformats.org/officeDocument/2006/relationships/notesMaster" Target="/ppt/notesMasters/notesMaster1.xml" Id="Rea832abf166d48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c368a2ee454831" /><Relationship Type="http://schemas.openxmlformats.org/officeDocument/2006/relationships/notesMaster" Target="/ppt/notesMasters/notesMaster1.xml" Id="Ra12f29dabc1040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372a4c9d5c4db8" /><Relationship Type="http://schemas.openxmlformats.org/officeDocument/2006/relationships/notesMaster" Target="/ppt/notesMasters/notesMaster1.xml" Id="Rfc3ac3ac0c6149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b792adff6c4b3a" /><Relationship Type="http://schemas.openxmlformats.org/officeDocument/2006/relationships/notesMaster" Target="/ppt/notesMasters/notesMaster1.xml" Id="R2e21c24b6b7c4a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d652536c7b412e" /><Relationship Type="http://schemas.openxmlformats.org/officeDocument/2006/relationships/notesMaster" Target="/ppt/notesMasters/notesMaster1.xml" Id="R7e02f3ba056f41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4f815e992a4924" /><Relationship Type="http://schemas.openxmlformats.org/officeDocument/2006/relationships/notesMaster" Target="/ppt/notesMasters/notesMaster1.xml" Id="R9fcd46191b5945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汇报的是一个有完整可复现产物的课程项目，而不是宣称提出新的学术算法。主线是MSH-Net复现，技术扩展是在相同特征融合结构中加入样本级随机模态丢弃。结果既有改善，也有蒸馏退化。接下来的比较会区分完整模态、缺失输入与噪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模态准确率高，并不意味着部署时缺一个传感器仍可用。我们希望同时回答融合收益和缺失适配两个问题。所有正式数字来自Augsburg三模态、seed42，而不是把之前用于环境检查的quick结果混在一起。OA关注全部像素，AA关注各类别等权表现，这两者经常给出不同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数据已经对齐到332乘485像素。HSI是180通道，SAR是4个特征通道，DSM是单通道高度表征。网络使用7乘7邻域预测中心地物类别。这里的假彩色和灰度拉伸仅用于展示，没有替换网络输入。数据来源为Hong等人的S2FL公开基准，DOI 10.1016/j.isprsjprs.2021.05.011。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要求的单传感器基线、简单融合和我们的技术改动都包含在这张表中。拼接是输入级，普通教师与随机模态丢弃是特征级，概率平均和MSH的最终组合是决策级。JAD学生只使用一种输入，但训练时接受完整教师指导。随机丢弃思想借鉴Neverova等人的ModDrop，我们没有把它宣称为原创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H分三个训练步骤。先训练完整模态教师和单模态基线，再冻结教师，通过交叉熵、特征MMD和输出KL指导单输入学生。最后将学生和常规单模态分支组合，冻结特征与BN统计，训练分类头和eta。部署没有教师，两个分支都接收同一可用模态。HSI、SAR、DSM分别训练独立学生，并不是一个模型任意切换所有可用模态。来源：Wei等，TGRS2023，式9至11及图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在教师同样的多分支特征融合结构上改变训练输入。每个样本一半概率完整，一半概率随机丢掉一个模态。这样训练时直接覆盖缺一个来源的条件。该方案并没有直接覆盖缺两个模态，所以只能把它看成当前缺失训练分布的扩展。ModDrop思想来源为Neverova等，arXiv:1501.00102，当前是课程适配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官方原训练集有761点，我们固定划分608训练和153验证，测试是全部77533点。主要阶段500epoch，融合100epoch，batch32。用验证OA优先和验证CE打破平局选best。所有正式阶段在Mac MPS上完成，uv锁定环境。必须强调本次只有seed42，不报告不存在的标准差。官方测试不参与本地入口的模型选择。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教师91.69，比HSI基线89.29高2.41个百分点，说明融合有价值。但简单拼接91.54，已经非常接近，且AA高于教师。概率平均88.85反而低于HSI。ModDrop完整输入91.91略高，但AA低于普通教师，因此不能笼统地说扩展在所有指标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平对比应固定可用输入。HSI的MSH比单模态高0.30点，SAR低0.70点，DSM高0.72点。SAR学生出现干净输入的负迁移，最终组合挽回一部分却未超过基线。DSM的OA提高，但AA下降3.12点，说明更多大类像素正确并不等于各类别都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色是完整输入训练教师，绿色是随机模态丢弃。保留SAR和DSM时，普通教师只有6.82，扩展达到82.27，改善幅度很大。HSI加DSM也从55.65到91.41。但只保留SAR或DSM时，扩展仍不如专门训练的单模态模型。图中完整条件的数据也保留，避免只展示有利的缺失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比较学生的损失项。SAR的MMD-only是81.25，联合JAD只有78.67，因此不能认为联合项一定更好。HSI的联合JAD在AA上有价值，而DSM所有学生的AA都低于CE基线。三个最终MSH都在融合第1epoch选中best，eta接近0.5。固定到0.5后，12个测试对照中只有一个条件改变一个像素，当前没有自适应权重带来明显收益的证据。消融批次顺序不同，也只有一个seed，不能把差异完全因果归于某一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噪声是归一化输入上的高斯扰动，截断到零一，标准差不是仪器百分比。SAR的JAD虽然干净精度差，但标准差0.1时63.41，对比基线51.96，优势11.45点。HSI轻噪声时学生也有收益，但高噪声时各模型都崩溃。DSM的MSH有小幅OA优势而AA更差。论文没有对应这组噪声扫描，不能称为原文噪声数值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来源：results/augsburg-seed42/results.json；82条件，每条件77533个官方测试点，seed42。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对照采用原文表VI，保留论文与本地OA及差值。本地完整融合与缺失适配均展示实证收益，HSI和DSM的MSH OA改善与论文方向一致。训练点数量、翻转增强、融合权重和模型选择规则不同，只有一个训练seed，随机验证邻域存在重叠，因此按条件解释数值差异。来源：Wei等，MSH-Net，TGRS2023，表VI及IV-B/IV-C；results/augsburg-seed42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完成多源数据、明确融合层次、单模态与简单融合对照，以及缺失和噪声量化。完整融合、随机模态丢弃及SAR噪声蒸馏分别在对应条件下提供实证收益。各模态和指标的数值完整保留，结论结合训练与评价条件解释。三位成员按列示职责负责最终交付和答辩。仓库提供环境、数据、小demo、命令和结果证据。自动化工具辅助制作，提交成员核对并承担内容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1beed086048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4fec59ae74d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a319a658f4b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8ffe76d154b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473a702b242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810c247f14c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44612-E08A-4BF8-96B1-FF9AE4CFB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4CA185-07AC-40BC-B19A-7C2D60FE6E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CBFC29-6E33-4733-9423-338C50136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25193A-582F-4D2E-853E-4B2ABC8BC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A2C2AA-CFC7-4273-88A1-627F6F5C4C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D77AB3-C8CE-4D01-98E0-A1172F508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2BDB49-4D98-4923-A768-4669E7653E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2BFAC1-F6C0-4F71-99C7-CC10F6C0DE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8A177C-669F-4850-8A51-D301D3289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0F0380-EA0A-4A27-BEA2-9010252A45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f210c30ff34b3f" /><Relationship Type="http://schemas.openxmlformats.org/officeDocument/2006/relationships/slideLayout" Target="/ppt/slideLayouts/slideLayout1.xml" Id="R50cb0af2ee95413f" /><Relationship Type="http://schemas.openxmlformats.org/officeDocument/2006/relationships/slideLayout" Target="/ppt/slideLayouts/slideLayout2.xml" Id="Rd052f59eb165499f" /><Relationship Type="http://schemas.openxmlformats.org/officeDocument/2006/relationships/slideLayout" Target="/ppt/slideLayouts/slideLayout3.xml" Id="Rc0286e083bb14e61" /><Relationship Type="http://schemas.openxmlformats.org/officeDocument/2006/relationships/slideLayout" Target="/ppt/slideLayouts/slideLayout4.xml" Id="R35b2de1951e74752" /><Relationship Type="http://schemas.openxmlformats.org/officeDocument/2006/relationships/slideLayout" Target="/ppt/slideLayouts/slideLayout5.xml" Id="R599516c2769b4c85" /><Relationship Type="http://schemas.openxmlformats.org/officeDocument/2006/relationships/slideLayout" Target="/ppt/slideLayouts/slideLayout6.xml" Id="R3fbf5b424ec7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cb0af2ee95413f"/>
    <p:sldLayoutId xmlns:r="http://schemas.openxmlformats.org/officeDocument/2006/relationships" id="2147483650" r:id="Rd052f59eb165499f"/>
    <p:sldLayoutId xmlns:r="http://schemas.openxmlformats.org/officeDocument/2006/relationships" id="2147483651" r:id="Rc0286e083bb14e61"/>
    <p:sldLayoutId xmlns:r="http://schemas.openxmlformats.org/officeDocument/2006/relationships" id="2147483652" r:id="R35b2de1951e74752"/>
    <p:sldLayoutId xmlns:r="http://schemas.openxmlformats.org/officeDocument/2006/relationships" id="2147483653" r:id="R599516c2769b4c85"/>
    <p:sldLayoutId xmlns:r="http://schemas.openxmlformats.org/officeDocument/2006/relationships" id="2147483654" r:id="R3fbf5b424ec7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b92bd771f45ad" /><Relationship Type="http://schemas.openxmlformats.org/officeDocument/2006/relationships/notesSlide" Target="/ppt/notesSlides/notesSlide1.xml" Id="Rd59b7050117a4e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4dc3ff7b64da7" /><Relationship Type="http://schemas.openxmlformats.org/officeDocument/2006/relationships/notesSlide" Target="/ppt/notesSlides/notesSlide2.xml" Id="R467b389e1eaa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8791f4db34103" /><Relationship Type="http://schemas.openxmlformats.org/officeDocument/2006/relationships/image" Target="/ppt/media/image.png" Id="R68a6fc80ef7e4d85" /><Relationship Type="http://schemas.openxmlformats.org/officeDocument/2006/relationships/notesSlide" Target="/ppt/notesSlides/notesSlide3.xml" Id="R4786fda5ee9b49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7ac3126e24447" /><Relationship Type="http://schemas.openxmlformats.org/officeDocument/2006/relationships/notesSlide" Target="/ppt/notesSlides/notesSlide4.xml" Id="R44e9c31cc4d540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d0205e6784040" /><Relationship Type="http://schemas.openxmlformats.org/officeDocument/2006/relationships/notesSlide" Target="/ppt/notesSlides/notesSlide5.xml" Id="Rcd1acf92786540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1788a702d42e9" /><Relationship Type="http://schemas.openxmlformats.org/officeDocument/2006/relationships/notesSlide" Target="/ppt/notesSlides/notesSlide6.xml" Id="Rce7ef1512e6947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15ea4e9324faf" /><Relationship Type="http://schemas.openxmlformats.org/officeDocument/2006/relationships/notesSlide" Target="/ppt/notesSlides/notesSlide7.xml" Id="Rd8717fd8a7ac49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2a94f6cc544a7" /><Relationship Type="http://schemas.openxmlformats.org/officeDocument/2006/relationships/chart" Target="/ppt/slides/charts/chart1.xml" Id="Rbce18b4b8cda47b9" /><Relationship Type="http://schemas.openxmlformats.org/officeDocument/2006/relationships/notesSlide" Target="/ppt/notesSlides/notesSlide8.xml" Id="R326d19a2b9ad4c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62b0149214372" /><Relationship Type="http://schemas.openxmlformats.org/officeDocument/2006/relationships/notesSlide" Target="/ppt/notesSlides/notesSlide9.xml" Id="R1e5309b5c62c45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f76e415fb4967" /><Relationship Type="http://schemas.openxmlformats.org/officeDocument/2006/relationships/chart" Target="/ppt/slides/charts/chart2.xml" Id="Rc06a48d2c8084a90" /><Relationship Type="http://schemas.openxmlformats.org/officeDocument/2006/relationships/notesSlide" Target="/ppt/notesSlides/notesSlide10.xml" Id="Radfd289b714947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12b9e937b4c8a" /><Relationship Type="http://schemas.openxmlformats.org/officeDocument/2006/relationships/notesSlide" Target="/ppt/notesSlides/notesSlide11.xml" Id="Rf868b726bb2e42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fbc50ad854abd" /><Relationship Type="http://schemas.openxmlformats.org/officeDocument/2006/relationships/chart" Target="/ppt/slides/charts/chart3.xml" Id="R5a7733699cf047a5" /><Relationship Type="http://schemas.openxmlformats.org/officeDocument/2006/relationships/chart" Target="/ppt/slides/charts/chart4.xml" Id="Ree13eb5584024dad" /><Relationship Type="http://schemas.openxmlformats.org/officeDocument/2006/relationships/chart" Target="/ppt/slides/charts/chart5.xml" Id="Rad9feb6f0bbc41fe" /><Relationship Type="http://schemas.openxmlformats.org/officeDocument/2006/relationships/notesSlide" Target="/ppt/notesSlides/notesSlide12.xml" Id="R4bda28c527864d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5230859814ebf" /><Relationship Type="http://schemas.openxmlformats.org/officeDocument/2006/relationships/notesSlide" Target="/ppt/notesSlides/notesSlide13.xml" Id="R786f6df9d7aa4b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924fdae584f7c" /><Relationship Type="http://schemas.openxmlformats.org/officeDocument/2006/relationships/notesSlide" Target="/ppt/notesSlides/notesSlide14.xml" Id="R3d3286dc833048f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OA (%)</c:v>
          </c:tx>
          <c:spPr>
            <a:solidFill xmlns:a="http://schemas.openxmlformats.org/drawingml/2006/main">
              <a:srgbClr val="0077B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HSI单模态</c:v>
                </c:pt>
                <c:pt idx="1">
                  <c:v>输入拼接</c:v>
                </c:pt>
                <c:pt idx="2">
                  <c:v>概率平均</c:v>
                </c:pt>
                <c:pt idx="3">
                  <c:v>教师</c:v>
                </c:pt>
                <c:pt idx="4">
                  <c:v>ModDrop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89.285852</c:v>
                </c:pt>
                <c:pt idx="1">
                  <c:v>91.539087</c:v>
                </c:pt>
                <c:pt idx="2">
                  <c:v>88.849909</c:v>
                </c:pt>
                <c:pt idx="3">
                  <c:v>91.693859</c:v>
                </c:pt>
                <c:pt idx="4">
                  <c:v>91.914411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D44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7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普通教师</c:v>
          </c:tx>
          <c:spPr>
            <a:solidFill xmlns:a="http://schemas.openxmlformats.org/drawingml/2006/main">
              <a:srgbClr val="0077BB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H+S+D</c:v>
                </c:pt>
                <c:pt idx="1">
                  <c:v>H+S</c:v>
                </c:pt>
                <c:pt idx="2">
                  <c:v>H+D</c:v>
                </c:pt>
                <c:pt idx="3">
                  <c:v>S+D</c:v>
                </c:pt>
                <c:pt idx="4">
                  <c:v>H</c:v>
                </c:pt>
                <c:pt idx="5">
                  <c:v>S</c:v>
                </c:pt>
                <c:pt idx="6">
                  <c:v>D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91.693859</c:v>
                </c:pt>
                <c:pt idx="1">
                  <c:v>83.249713</c:v>
                </c:pt>
                <c:pt idx="2">
                  <c:v>55.651142</c:v>
                </c:pt>
                <c:pt idx="3">
                  <c:v>6.816452</c:v>
                </c:pt>
                <c:pt idx="4">
                  <c:v>42.846272</c:v>
                </c:pt>
                <c:pt idx="5">
                  <c:v>5.965202</c:v>
                </c:pt>
                <c:pt idx="6">
                  <c:v>9.403738</c:v>
                </c:pt>
              </c:numCache>
            </c:numRef>
          </c:val>
        </c:ser>
        <c:ser>
          <c:idx val="1"/>
          <c:order val="1"/>
          <c:tx>
            <c:v>模态丢弃扩展</c:v>
          </c:tx>
          <c:spPr>
            <a:solidFill xmlns:a="http://schemas.openxmlformats.org/drawingml/2006/main">
              <a:srgbClr val="009988"/>
            </a:solidFill>
          </c:spPr>
          <c:invertIfNegative val="0"/>
          <c:cat>
            <c:strRef>
              <c:f>'Chart Data'!$C$2:$C$8</c:f>
              <c:strCache>
                <c:ptCount val="7"/>
                <c:pt idx="0">
                  <c:v>H+S+D</c:v>
                </c:pt>
                <c:pt idx="1">
                  <c:v>H+S</c:v>
                </c:pt>
                <c:pt idx="2">
                  <c:v>H+D</c:v>
                </c:pt>
                <c:pt idx="3">
                  <c:v>S+D</c:v>
                </c:pt>
                <c:pt idx="4">
                  <c:v>H</c:v>
                </c:pt>
                <c:pt idx="5">
                  <c:v>S</c:v>
                </c:pt>
                <c:pt idx="6">
                  <c:v>D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91.914411</c:v>
                </c:pt>
                <c:pt idx="1">
                  <c:v>91.693859</c:v>
                </c:pt>
                <c:pt idx="2">
                  <c:v>91.411399</c:v>
                </c:pt>
                <c:pt idx="3">
                  <c:v>82.270775</c:v>
                </c:pt>
                <c:pt idx="4">
                  <c:v>91.11862</c:v>
                </c:pt>
                <c:pt idx="5">
                  <c:v>69.507178</c:v>
                </c:pt>
                <c:pt idx="6">
                  <c:v>49.292559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D44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7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42D44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SINGLE</c:v>
          </c:tx>
          <c:spPr>
            <a:solidFill xmlns:a="http://schemas.openxmlformats.org/drawingml/2006/main">
              <a:srgbClr val="0077BB"/>
            </a:solidFill>
            <a:ln xmlns:a="http://schemas.openxmlformats.org/drawingml/2006/main" w="28575">
              <a:solidFill>
                <a:srgbClr val="0077BB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077BB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89.285852</c:v>
                </c:pt>
                <c:pt idx="1">
                  <c:v>59.458553</c:v>
                </c:pt>
                <c:pt idx="2">
                  <c:v>25.524615</c:v>
                </c:pt>
                <c:pt idx="3">
                  <c:v>12.891285</c:v>
                </c:pt>
              </c:numCache>
            </c:numRef>
          </c:val>
          <c:smooth val="0"/>
        </c:ser>
        <c:ser>
          <c:idx val="1"/>
          <c:order val="1"/>
          <c:tx>
            <c:v>JAD</c:v>
          </c:tx>
          <c:spPr>
            <a:solidFill xmlns:a="http://schemas.openxmlformats.org/drawingml/2006/main">
              <a:srgbClr val="009988"/>
            </a:solidFill>
            <a:ln xmlns:a="http://schemas.openxmlformats.org/drawingml/2006/main" w="28575">
              <a:solidFill>
                <a:srgbClr val="009988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09988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89.381296</c:v>
                </c:pt>
                <c:pt idx="1">
                  <c:v>75.102215</c:v>
                </c:pt>
                <c:pt idx="2">
                  <c:v>25.209911</c:v>
                </c:pt>
                <c:pt idx="3">
                  <c:v>8.627294</c:v>
                </c:pt>
              </c:numCache>
            </c:numRef>
          </c:val>
          <c:smooth val="0"/>
        </c:ser>
        <c:ser>
          <c:idx val="2"/>
          <c:order val="2"/>
          <c:tx>
            <c:v>MSH</c:v>
          </c:tx>
          <c:spPr>
            <a:solidFill xmlns:a="http://schemas.openxmlformats.org/drawingml/2006/main">
              <a:srgbClr val="EE7733"/>
            </a:solidFill>
            <a:ln xmlns:a="http://schemas.openxmlformats.org/drawingml/2006/main" w="28575">
              <a:solidFill>
                <a:srgbClr val="EE773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EE7733"/>
              </a:solidFill>
            </c:spPr>
          </c:marker>
          <c:cat>
            <c:numRef>
              <c:f>'Chart Data'!$E$2:$E$5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89.588949</c:v>
                </c:pt>
                <c:pt idx="1">
                  <c:v>69.139592</c:v>
                </c:pt>
                <c:pt idx="2">
                  <c:v>25.934763</c:v>
                </c:pt>
                <c:pt idx="3">
                  <c:v>11.181045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SINGLE</c:v>
          </c:tx>
          <c:spPr>
            <a:solidFill xmlns:a="http://schemas.openxmlformats.org/drawingml/2006/main">
              <a:srgbClr val="0077BB"/>
            </a:solidFill>
            <a:ln xmlns:a="http://schemas.openxmlformats.org/drawingml/2006/main" w="28575">
              <a:solidFill>
                <a:srgbClr val="0077BB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077BB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81.175757</c:v>
                </c:pt>
                <c:pt idx="1">
                  <c:v>62.271549</c:v>
                </c:pt>
                <c:pt idx="2">
                  <c:v>51.957231</c:v>
                </c:pt>
                <c:pt idx="3">
                  <c:v>42.826925</c:v>
                </c:pt>
              </c:numCache>
            </c:numRef>
          </c:val>
          <c:smooth val="0"/>
        </c:ser>
        <c:ser>
          <c:idx val="1"/>
          <c:order val="1"/>
          <c:tx>
            <c:v>JAD</c:v>
          </c:tx>
          <c:spPr>
            <a:solidFill xmlns:a="http://schemas.openxmlformats.org/drawingml/2006/main">
              <a:srgbClr val="009988"/>
            </a:solidFill>
            <a:ln xmlns:a="http://schemas.openxmlformats.org/drawingml/2006/main" w="28575">
              <a:solidFill>
                <a:srgbClr val="009988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09988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78.667148</c:v>
                </c:pt>
                <c:pt idx="1">
                  <c:v>67.812415</c:v>
                </c:pt>
                <c:pt idx="2">
                  <c:v>63.409129</c:v>
                </c:pt>
                <c:pt idx="3">
                  <c:v>54.797312</c:v>
                </c:pt>
              </c:numCache>
            </c:numRef>
          </c:val>
          <c:smooth val="0"/>
        </c:ser>
        <c:ser>
          <c:idx val="2"/>
          <c:order val="2"/>
          <c:tx>
            <c:v>MSH</c:v>
          </c:tx>
          <c:spPr>
            <a:solidFill xmlns:a="http://schemas.openxmlformats.org/drawingml/2006/main">
              <a:srgbClr val="EE7733"/>
            </a:solidFill>
            <a:ln xmlns:a="http://schemas.openxmlformats.org/drawingml/2006/main" w="28575">
              <a:solidFill>
                <a:srgbClr val="EE773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EE7733"/>
              </a:solidFill>
            </c:spPr>
          </c:marker>
          <c:cat>
            <c:numRef>
              <c:f>'Chart Data'!$E$2:$E$5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80.48057</c:v>
                </c:pt>
                <c:pt idx="1">
                  <c:v>67.408716</c:v>
                </c:pt>
                <c:pt idx="2">
                  <c:v>61.252628</c:v>
                </c:pt>
                <c:pt idx="3">
                  <c:v>50.800304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SINGLE</c:v>
          </c:tx>
          <c:spPr>
            <a:solidFill xmlns:a="http://schemas.openxmlformats.org/drawingml/2006/main">
              <a:srgbClr val="0077BB"/>
            </a:solidFill>
            <a:ln xmlns:a="http://schemas.openxmlformats.org/drawingml/2006/main" w="28575">
              <a:solidFill>
                <a:srgbClr val="0077BB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077BB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74.690777</c:v>
                </c:pt>
                <c:pt idx="1">
                  <c:v>45.161415</c:v>
                </c:pt>
                <c:pt idx="2">
                  <c:v>43.805863</c:v>
                </c:pt>
                <c:pt idx="3">
                  <c:v>42.654096</c:v>
                </c:pt>
              </c:numCache>
            </c:numRef>
          </c:val>
          <c:smooth val="0"/>
        </c:ser>
        <c:ser>
          <c:idx val="1"/>
          <c:order val="1"/>
          <c:tx>
            <c:v>JAD</c:v>
          </c:tx>
          <c:spPr>
            <a:solidFill xmlns:a="http://schemas.openxmlformats.org/drawingml/2006/main">
              <a:srgbClr val="009988"/>
            </a:solidFill>
            <a:ln xmlns:a="http://schemas.openxmlformats.org/drawingml/2006/main" w="28575">
              <a:solidFill>
                <a:srgbClr val="009988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09988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74.236777</c:v>
                </c:pt>
                <c:pt idx="1">
                  <c:v>44.771904</c:v>
                </c:pt>
                <c:pt idx="2">
                  <c:v>44.018676</c:v>
                </c:pt>
                <c:pt idx="3">
                  <c:v>41.900868</c:v>
                </c:pt>
              </c:numCache>
            </c:numRef>
          </c:val>
          <c:smooth val="0"/>
        </c:ser>
        <c:ser>
          <c:idx val="2"/>
          <c:order val="2"/>
          <c:tx>
            <c:v>MSH</c:v>
          </c:tx>
          <c:spPr>
            <a:solidFill xmlns:a="http://schemas.openxmlformats.org/drawingml/2006/main">
              <a:srgbClr val="EE7733"/>
            </a:solidFill>
            <a:ln xmlns:a="http://schemas.openxmlformats.org/drawingml/2006/main" w="28575">
              <a:solidFill>
                <a:srgbClr val="EE773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EE7733"/>
              </a:solidFill>
            </c:spPr>
          </c:marker>
          <c:cat>
            <c:numRef>
              <c:f>'Chart Data'!$E$2:$E$5</c:f>
              <c:numCache>
                <c:formatCode>General</c:formatCode>
                <c:ptCount val="4"/>
                <c:pt idx="0">
                  <c:v>0</c:v>
                </c:pt>
                <c:pt idx="1">
                  <c:v>.05</c:v>
                </c:pt>
                <c:pt idx="2">
                  <c:v>.10</c:v>
                </c:pt>
                <c:pt idx="3">
                  <c:v>.20</c:v>
                </c:pt>
              </c:numCache>
            </c:num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75.41305</c:v>
                </c:pt>
                <c:pt idx="1">
                  <c:v>45.642501</c:v>
                </c:pt>
                <c:pt idx="2">
                  <c:v>45.082739</c:v>
                </c:pt>
                <c:pt idx="3">
                  <c:v>43.584022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F3FB2-F67B-460B-9FCC-B4EB548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Augsburg 多传感器融合</a:t>
            </a:r>
          </a:p>
          <a:p xmlns:a="http://schemas.openxmlformats.org/drawingml/2006/main">
            <a:pPr>
              <a:def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与模态缺失鲁棒性实验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CCC17-DB65-449E-A425-96E6E1C9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01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B8AE3-318A-49AA-BFB2-91473D95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MSH-Net 复现与随机模态丢弃扩展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D38C1-5136-449E-B57F-24152D24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多传感器融合课程项目组（公开匿名版）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808E7-3190-46D4-8FC6-D4A6F320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上海大学 未来技术学院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9D8D0-4A66-46CD-8967-219AF2BF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82 个正式测试条件，18 个训练阶段，单个训练 seed</a:t>
            </a:r>
          </a:p>
        </p:txBody>
      </p:sp>
    </p:spTree>
    <p:extLst>
      <p:ext uri="{BB962C8B-B14F-4D97-AF65-F5344CB8AC3E}">
        <p14:creationId xmlns:p14="http://schemas.microsoft.com/office/powerpoint/2010/main" val="360916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B7888-7576-4CCF-A76D-D75B9852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研究问题与实验范围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2C95F-11A7-4A2A-BE1E-14C95C5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02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A1A75-D3C7-4F68-BF51-AB727D2E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完整输入：多模态是否优于单模态与简单融合？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E37B3-1B5D-4A11-8AA8-9219B5DF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858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缺失输入：专门训练是否比直接零填充更可靠？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8A583-7098-4B68-B6D1-11207177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858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蒸馏与扩展：干净精度、类别表现和噪声鲁棒性是否一致？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04250-854A-47B5-966B-FFCC4692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正式范围：Augsburg，HSI + SAR + DSM，seed 42</a:t>
            </a:r>
          </a:p>
          <a:p xmlns:a="http://schemas.openxmlformats.org/drawingml/2006/main">
            <a: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评价：OA、AA、Kappa及逐类别召回率</a:t>
            </a:r>
          </a:p>
        </p:txBody>
      </p:sp>
    </p:spTree>
    <p:extLst>
      <p:ext uri="{BB962C8B-B14F-4D97-AF65-F5344CB8AC3E}">
        <p14:creationId xmlns:p14="http://schemas.microsoft.com/office/powerpoint/2010/main" val="1688579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F0369-AFC5-42F2-8420-CCCB786D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三种输入与同一分类任务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4675E-FBF4-4C1B-98E5-2082B867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03 / 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73776-6CF3-4F91-9C43-56BF5E793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6fc80ef7e4d85"/>
          <a:stretch xmlns:a="http://schemas.openxmlformats.org/drawingml/2006/main"/>
        </p:blipFill>
        <p:spPr>
          <a:xfrm xmlns:a="http://schemas.openxmlformats.org/drawingml/2006/main">
            <a:off x="619126" y="1389796"/>
            <a:ext cx="10953748" cy="2983032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68B10-54C8-4B2B-A28F-27A454D2E614}"/>
              </a:ext>
            </a:extLst>
          </p:cNvPr>
          <p:cNvGraphicFramePr/>
          <p:nvPr/>
        </p:nvGraphicFramePr>
        <p:xfrm>
          <a:off xmlns:a="http://schemas.openxmlformats.org/drawingml/2006/main" x="619125" y="4714875"/>
          <a:ext xmlns:a="http://schemas.openxmlformats.org/drawingml/2006/main" cx="10953750" cy="100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95500"/>
                <a:gridCol w="2095500"/>
                <a:gridCol w="2095500"/>
                <a:gridCol w="2095500"/>
              </a:tblGrid>
              <a:tr h="500063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空间尺寸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DSM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</a:tr>
              <a:tr h="500063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332 × 485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180通道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4通道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1通道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FA667-4797-4EE4-8568-8A792739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逐波段归一化，7 × 7 patch，边界重复取样</a:t>
            </a:r>
          </a:p>
        </p:txBody>
      </p:sp>
    </p:spTree>
    <p:extLst>
      <p:ext uri="{BB962C8B-B14F-4D97-AF65-F5344CB8AC3E}">
        <p14:creationId xmlns:p14="http://schemas.microsoft.com/office/powerpoint/2010/main" val="477237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E1D87-E504-444A-AAC5-985A82B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对照方法与融合层次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49025-9B80-4DB0-B360-3E855ED9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04 / 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CE1E4-434C-4D57-AAA5-1C2455813EC3}"/>
              </a:ext>
            </a:extLst>
          </p:cNvPr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810000"/>
                <a:gridCol w="3810000"/>
              </a:tblGrid>
              <a:tr h="598714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融合位置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测试输入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</a:tr>
              <a:tr h="598714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单模态 HSI/SAR/DSM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无跨模态融合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指定一种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输入拼接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完整/零填充缺失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概率等权平均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决策级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完整/零填充缺失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教师网络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跨模态特征级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完整/零填充缺失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JAD学生与MSH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蒸馏，最终logits融合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指定一种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随机模态丢弃扩展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特征级，训练时丢输入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七种非空输入子集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76FD0-47F0-4A28-B4F3-726FECC4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公开作者网络作为起点，扩展实现与原始方法分别署明来源</a:t>
            </a:r>
          </a:p>
        </p:txBody>
      </p:sp>
    </p:spTree>
    <p:extLst>
      <p:ext uri="{BB962C8B-B14F-4D97-AF65-F5344CB8AC3E}">
        <p14:creationId xmlns:p14="http://schemas.microsoft.com/office/powerpoint/2010/main" val="1064447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7DDEC-416E-4825-8B97-884E96F1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MSH-Net 的训练与部署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1931A-7AA1-4431-B0FB-969A3A21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05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A6252-C584-4F35-B50B-F8A45B47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基线训练：完整三模态教师，与三个单模态常规网络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C26FE-97D0-43BF-A44B-91C576B8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JAD蒸馏：学生只看一种输入，教师冻结并提供特征与输出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03106-2FE5-48B3-B0FA-5D00F3EE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最终组合：冻结两分支特征与BN，只训练分类头与η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A224-743F-4BFD-80F6-06C345AE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L = CE + α MMD + β T² KL，T =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C70CF-81ED-4E61-AD16-ACB9296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z = (1 − η) z学生 + η z常规</a:t>
            </a:r>
          </a:p>
          <a:p xmlns:a="http://schemas.openxmlformats.org/drawingml/2006/main">
            <a: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部署时两分支读取同一模态，教师不进入部署权重</a:t>
            </a:r>
          </a:p>
        </p:txBody>
      </p:sp>
    </p:spTree>
    <p:extLst>
      <p:ext uri="{BB962C8B-B14F-4D97-AF65-F5344CB8AC3E}">
        <p14:creationId xmlns:p14="http://schemas.microsoft.com/office/powerpoint/2010/main" val="1040862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194BB-EF14-4C35-80F5-DE79CFEB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课程扩展：随机模态丢弃特征融合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6D93A-9484-43CF-AD3D-4C88BD87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06 / 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A93CB-6C69-4913-8E87-2A080E65F4A2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6191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00250"/>
              </a:tblGrid>
              <a:tr h="6477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概率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</a:tr>
              <a:tr h="6477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HSI + SAR + DSM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1/2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HSI + SAR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HSI + DSM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SAR + DSM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902FF-1511-4E51-8584-3DD024D3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71625"/>
            <a:ext cx="4095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改动对象</a:t>
            </a:r>
          </a:p>
          <a:p xmlns:a="http://schemas.openxmlformats.org/drawingml/2006/main">
            <a: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保留原有特征融合结构</a:t>
            </a:r>
          </a:p>
          <a:p xmlns:a="http://schemas.openxmlformats.org/drawingml/2006/main">
            <a:pPr>
              <a:def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按样本随机生成模态掩码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94CF2-AA0B-4E6E-B0EE-F8537E24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测试范围</a:t>
            </a:r>
          </a:p>
          <a:p xmlns:a="http://schemas.openxmlformats.org/drawingml/2006/main">
            <a: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完整、缺一个、缺两个</a:t>
            </a:r>
          </a:p>
          <a:p xmlns:a="http://schemas.openxmlformats.org/drawingml/2006/main">
            <a:pPr>
              <a:def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共七个非空输入子集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A27F5-7488-41AD-8B1B-5D711D38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借鉴已有随机丢弃思想，不宣称提出新的学术算法</a:t>
            </a:r>
          </a:p>
        </p:txBody>
      </p:sp>
    </p:spTree>
    <p:extLst>
      <p:ext uri="{BB962C8B-B14F-4D97-AF65-F5344CB8AC3E}">
        <p14:creationId xmlns:p14="http://schemas.microsoft.com/office/powerpoint/2010/main" val="643589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CFCE9-2BC8-401E-A635-A6E74524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实验协议与可复现性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55598-A951-4BBE-AF67-B985A086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07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CFB1-A113-4005-A042-4553CF00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608 训练     153 验证     77,533 官方测试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C9444-F8CF-4775-91B0-9936B4DEE7DF}"/>
              </a:ext>
            </a:extLst>
          </p:cNvPr>
          <p:cNvGraphicFramePr/>
          <p:nvPr/>
        </p:nvGraphicFramePr>
        <p:xfrm>
          <a:off xmlns:a="http://schemas.openxmlformats.org/drawingml/2006/main" x="619125" y="2381250"/>
          <a:ext xmlns:a="http://schemas.openxmlformats.org/drawingml/2006/main" cx="10953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191500"/>
              </a:tblGrid>
              <a:tr h="523875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</a:tr>
              <a:tr h="523875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优化器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SGD，lr 0.001，momentum 0.9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训练长度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主要阶段500 epoch，融合100 epoch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数据与选择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固定分层划分，验证OA优先，CE打破平局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Mac arm64，PyTorch 2.5.1，MPS，uv锁定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证据规模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18阶段，82条件，训练seed 42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BEAE6-E116-4AE8-A0EB-B6938E53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rPr>
              <a:t>随机点验证存在邻域重叠，不能视为空间独立泛化评估</a:t>
            </a:r>
          </a:p>
        </p:txBody>
      </p:sp>
    </p:spTree>
    <p:extLst>
      <p:ext uri="{BB962C8B-B14F-4D97-AF65-F5344CB8AC3E}">
        <p14:creationId xmlns:p14="http://schemas.microsoft.com/office/powerpoint/2010/main" val="1217242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5129A-8AFF-43B5-9C8D-63728CEA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完整模态融合提高总体准确率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45457-B3BF-4265-8042-64EFC9C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08 / 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62C37B9-4D2E-47FA-88A4-F209B86461D2}"/>
              </a:ext>
            </a:extLst>
          </p:cNvPr>
          <p:cNvGraphicFramePr/>
          <p:nvPr/>
        </p:nvGraphicFramePr>
        <p:xfrm>
          <a:off xmlns:a="http://schemas.openxmlformats.org/drawingml/2006/main" x="619125" y="1333500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e18b4b8cda47b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50AA2-0E3D-4242-870E-5C6D8960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教师比最佳单模态高 2.41 个百分点</a:t>
            </a:r>
          </a:p>
          <a:p xmlns:a="http://schemas.openxmlformats.org/drawingml/2006/main">
            <a: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拼接 AA 68.20%，高于教师 66.78%</a:t>
            </a:r>
          </a:p>
        </p:txBody>
      </p:sp>
    </p:spTree>
    <p:extLst>
      <p:ext uri="{BB962C8B-B14F-4D97-AF65-F5344CB8AC3E}">
        <p14:creationId xmlns:p14="http://schemas.microsoft.com/office/powerpoint/2010/main" val="895083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5B444-0386-4289-8557-06E4903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相同单输入下，MSH 的收益并不一致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D5FFD-6C51-46D6-BED9-E4BBAC0D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09 / 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0B51C-A179-4D5B-9A1F-E059ED7C601C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190750"/>
                <a:gridCol w="2190750"/>
                <a:gridCol w="2190750"/>
                <a:gridCol w="2190750"/>
              </a:tblGrid>
              <a:tr h="678656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保留模态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单模态OA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JAD OA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MSH OA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MSH−基线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</a:tr>
              <a:tr h="678656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89.29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89.38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89.59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+0.30 pp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81.18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78.67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80.48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-0.70 pp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DSM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75.41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+0.72 pp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E112B-2013-4C2E-B5A5-2832B00D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HSI：小幅收益，仍需多次运行检验</a:t>
            </a:r>
          </a:p>
          <a:p xmlns:a="http://schemas.openxmlformats.org/drawingml/2006/main">
            <a: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SAR：最终MSH低于单模态基线</a:t>
            </a:r>
          </a:p>
          <a:p xmlns:a="http://schemas.openxmlformats.org/drawingml/2006/main">
            <a:pPr>
              <a:def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DSM：OA提高，但AA由43.10%降至39.98%</a:t>
            </a:r>
          </a:p>
        </p:txBody>
      </p:sp>
    </p:spTree>
    <p:extLst>
      <p:ext uri="{BB962C8B-B14F-4D97-AF65-F5344CB8AC3E}">
        <p14:creationId xmlns:p14="http://schemas.microsoft.com/office/powerpoint/2010/main" val="18367237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7170E-5754-47C9-9946-4A02C34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缺失适配：普通教师与随机模态丢弃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AFB2D-2A3C-4D63-9A73-C87EA56E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10 / 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9769354-81A9-4C5E-98CC-77636A08D459}"/>
              </a:ext>
            </a:extLst>
          </p:cNvPr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6a48d2c8084a9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3826F-F3B1-4E19-8B6B-289BBB1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H / S / D 表示 HSI / SAR / DSM，缺失分支输入全零</a:t>
            </a:r>
          </a:p>
          <a:p xmlns:a="http://schemas.openxmlformats.org/drawingml/2006/main">
            <a: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仅SAR/DSM条件下，专门训练的单输入模型仍更强</a:t>
            </a:r>
          </a:p>
        </p:txBody>
      </p:sp>
    </p:spTree>
    <p:extLst>
      <p:ext uri="{BB962C8B-B14F-4D97-AF65-F5344CB8AC3E}">
        <p14:creationId xmlns:p14="http://schemas.microsoft.com/office/powerpoint/2010/main" val="290210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B777B-18F4-484B-A937-574A9E6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蒸馏消融与融合权重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B220B-EC3C-409A-ADEF-A1648C8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11 / 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822B5-2FD8-4FE4-9E32-F229CE9132E5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190750"/>
                <a:gridCol w="2190750"/>
                <a:gridCol w="2190750"/>
                <a:gridCol w="2190750"/>
              </a:tblGrid>
              <a:tr h="642938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CE+KL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CE+MMD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JAD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</a:tr>
              <a:tr h="642938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89.29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89.30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89.41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89.38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81.18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80.56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81.25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78.67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DSM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74.69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71.52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74.49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00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AC6CA-8E08-46D0-8961-E0C2344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SAR：MMD-only 81.25% 高于联合 JAD 78.67%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6B2D3-855F-49E7-BABC-3D8E0ECD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三个MSH均选融合epoch 1，η几乎为0.5</a:t>
            </a:r>
          </a:p>
          <a:p xmlns:a="http://schemas.openxmlformats.org/drawingml/2006/main">
            <a: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固定η测试干预几乎不改变预测，尚不能证明学习η有效</a:t>
            </a:r>
          </a:p>
        </p:txBody>
      </p:sp>
    </p:spTree>
    <p:extLst>
      <p:ext uri="{BB962C8B-B14F-4D97-AF65-F5344CB8AC3E}">
        <p14:creationId xmlns:p14="http://schemas.microsoft.com/office/powerpoint/2010/main" val="16623061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B2AED-40FE-480C-A947-71D513B3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噪声鲁棒性与干净精度存在权衡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2E300-020A-47F3-8D71-E78CC74C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12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952E2-64FD-4196-B5E9-283C29E6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144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HSI only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164942A-3637-4ED3-B5C9-E13CB973660F}"/>
              </a:ext>
            </a:extLst>
          </p:cNvPr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3571875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7733699cf047a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E8800-99A6-4586-8A82-A7673A2A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144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SAR only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D6C15EA-40A7-47EA-A65D-998A347C3DA0}"/>
              </a:ext>
            </a:extLst>
          </p:cNvPr>
          <p:cNvGraphicFramePr/>
          <p:nvPr/>
        </p:nvGraphicFramePr>
        <p:xfrm>
          <a:off xmlns:a="http://schemas.openxmlformats.org/drawingml/2006/main" x="4238625" y="1809750"/>
          <a:ext xmlns:a="http://schemas.openxmlformats.org/drawingml/2006/main" cx="3571875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13eb5584024da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B36F3-33C6-4B18-9A20-D2FB2A77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144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DSM only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DF6B7DE7-19FE-47B7-9660-93C2DBEB63DF}"/>
              </a:ext>
            </a:extLst>
          </p:cNvPr>
          <p:cNvGraphicFramePr/>
          <p:nvPr/>
        </p:nvGraphicFramePr>
        <p:xfrm>
          <a:off xmlns:a="http://schemas.openxmlformats.org/drawingml/2006/main" x="7953375" y="1809750"/>
          <a:ext xmlns:a="http://schemas.openxmlformats.org/drawingml/2006/main" cx="3571875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9feb6f0bbc41f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4EF98-6009-4C8E-9CF3-BA80AA9B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横轴：高斯噪声标准差，纵轴：OA (%)</a:t>
            </a:r>
          </a:p>
          <a:p xmlns:a="http://schemas.openxmlformats.org/drawingml/2006/main">
            <a: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SAR在σ=.10时，JAD 63.41%，单模态51.96%</a:t>
            </a:r>
          </a:p>
        </p:txBody>
      </p:sp>
    </p:spTree>
    <p:extLst>
      <p:ext uri="{BB962C8B-B14F-4D97-AF65-F5344CB8AC3E}">
        <p14:creationId xmlns:p14="http://schemas.microsoft.com/office/powerpoint/2010/main" val="63895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9389A-8CAC-4E99-BBAD-A252D851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论文对照与实验条件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21FFB-CACD-46DE-A9E7-68FE93FB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13 / 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70C99-44B3-47BA-8706-EE469E534FCC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53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714625"/>
                <a:gridCol w="2714625"/>
                <a:gridCol w="3048000"/>
              </a:tblGrid>
              <a:tr h="642938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MSH输入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论文OA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本地OA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差值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</a:tr>
              <a:tr h="642938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HSI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92.99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89.59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-3.40 pp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SAR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83.51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80.48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-3.03 pp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DSM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81.61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75.41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21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-6.20 pp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83424-04D7-4C0B-856C-B6A211C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BB4433"/>
                </a:solidFill>
                <a:latin typeface="Noto Sans CJK SC"/>
                <a:ea typeface="Noto Sans CJK SC"/>
                <a:cs typeface="Noto Sans CJK SC"/>
              </a:rPr>
              <a:t>协议差异：608/761训练点，未加随机翻转，融合与选择规则不同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AB2E3-73A0-4876-A9C1-D8C2EBCC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完整融合与缺失适配展示了实际收益</a:t>
            </a:r>
          </a:p>
          <a:p xmlns:a="http://schemas.openxmlformats.org/drawingml/2006/main">
            <a:pPr>
              <a:def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结果结合训练协议、类别表现与空间划分分析</a:t>
            </a:r>
          </a:p>
        </p:txBody>
      </p:sp>
    </p:spTree>
    <p:extLst>
      <p:ext uri="{BB962C8B-B14F-4D97-AF65-F5344CB8AC3E}">
        <p14:creationId xmlns:p14="http://schemas.microsoft.com/office/powerpoint/2010/main" val="171982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DD1BB-441F-4029-8C5F-2ADCE5FE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42D44"/>
                </a:solidFill>
                <a:latin typeface="Noto Sans CJK SC"/>
                <a:ea typeface="Noto Sans CJK SC"/>
                <a:cs typeface="Noto Sans CJK SC"/>
              </a:rPr>
              <a:t>结论、分工与复现入口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131AB-B24C-4A0E-9B2D-1CEBCF6B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14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359B3-BE05-4F0D-A315-FDFF05EE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完整教师OA 91.69%，较最佳单模态提高2.41个百分点</a:t>
            </a:r>
          </a:p>
          <a:p xmlns:a="http://schemas.openxmlformats.org/drawingml/2006/main">
            <a:pPr>
              <a:def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SAR+DSM缺失适配达82.27%，保留完整协议供复核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AC82C-6D2C-4B6B-B653-4E79771606BC}"/>
              </a:ext>
            </a:extLst>
          </p:cNvPr>
          <p:cNvGraphicFramePr/>
          <p:nvPr/>
        </p:nvGraphicFramePr>
        <p:xfrm>
          <a:off xmlns:a="http://schemas.openxmlformats.org/drawingml/2006/main" x="619125" y="2714625"/>
          <a:ext xmlns:a="http://schemas.openxmlformats.org/drawingml/2006/main" cx="109537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24750"/>
              </a:tblGrid>
              <a:tr h="5715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排序与成员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本次交付责任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T w="9525">
                      <a:solidFill>
                        <a:srgbClr val="D8E2E9"/>
                      </a:solidFill>
                      <a:prstDash val="solid"/>
                    </a:lnT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142D44"/>
                    </a:solidFill>
                  </a:tcPr>
                </a:tc>
              </a:tr>
              <a:tr h="5715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成员A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项目统筹、代码环境复核、协议及材料整合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 成员B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数据基线核查、缺失噪声分析、图表复核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85725" rIns="95250" bIns="85725"/>
                    <a:lstStyle/>
                    <a:p>
                      <a:pPr algn="l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 成员C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9"/>
                      </a:solidFill>
                      <a:prstDash val="solid"/>
                    </a:lnL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pPr algn="ctr"/>
                      <a:r>
                        <a:rPr sz="1875" b="0">
                          <a:solidFill>
                            <a:srgbClr val="142D4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文献对照、消融分析、演示与复现文档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9"/>
                      </a:solidFill>
                      <a:prstDash val="solid"/>
                    </a:lnR>
                    <a:lnB w="9525">
                      <a:solidFill>
                        <a:srgbClr val="D8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69239-1D9F-42E0-98DB-9F34FC9C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0077BB"/>
                </a:solidFill>
                <a:latin typeface="Noto Sans CJK SC"/>
                <a:ea typeface="Noto Sans CJK SC"/>
                <a:cs typeface="Noto Sans CJK SC"/>
              </a:rPr>
              <a:t>https://github.com/libo-zhu/sense-course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1CE9E-0E40-444A-810C-D5A7FEA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26674"/>
                </a:solidFill>
                <a:latin typeface="Noto Sans CJK SC"/>
                <a:ea typeface="Noto Sans CJK SC"/>
                <a:cs typeface="Noto Sans CJK SC"/>
              </a:rPr>
              <a:t>README含环境、数据获取、小demo与全部复现命令</a:t>
            </a:r>
          </a:p>
        </p:txBody>
      </p:sp>
    </p:spTree>
    <p:extLst>
      <p:ext uri="{BB962C8B-B14F-4D97-AF65-F5344CB8AC3E}">
        <p14:creationId xmlns:p14="http://schemas.microsoft.com/office/powerpoint/2010/main" val="2072380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2026-10-25T13:46:50.9710000Z</dcterms:created>
  <dcterms:modified xsi:type="dcterms:W3CDTF">2026-10-25T13:46:50.9710000Z</dcterms:modified>
</coreProperties>
</file>